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9" r:id="rId1"/>
    <p:sldMasterId id="2147483674" r:id="rId2"/>
    <p:sldMasterId id="2147483676" r:id="rId3"/>
  </p:sldMasterIdLst>
  <p:sldIdLst>
    <p:sldId id="256" r:id="rId4"/>
    <p:sldId id="271" r:id="rId5"/>
    <p:sldId id="257" r:id="rId6"/>
    <p:sldId id="258" r:id="rId7"/>
    <p:sldId id="259" r:id="rId8"/>
    <p:sldId id="260" r:id="rId9"/>
    <p:sldId id="267" r:id="rId10"/>
    <p:sldId id="268" r:id="rId11"/>
    <p:sldId id="263" r:id="rId12"/>
    <p:sldId id="269" r:id="rId13"/>
    <p:sldId id="270" r:id="rId14"/>
    <p:sldId id="266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auptfolie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0776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2/27/2026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78862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1320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4012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ache Folie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2476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imal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2838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stomShape 3"/>
          <p:cNvSpPr/>
          <p:nvPr/>
        </p:nvSpPr>
        <p:spPr>
          <a:xfrm>
            <a:off x="11849360" y="4151264"/>
            <a:ext cx="378317" cy="116202"/>
          </a:xfrm>
          <a:prstGeom prst="rect">
            <a:avLst/>
          </a:prstGeom>
          <a:solidFill>
            <a:srgbClr val="E4311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DE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8098" y="-76198"/>
            <a:ext cx="12267680" cy="1523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416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</p:sldLayoutIdLst>
  <p:txStyles>
    <p:titleStyle>
      <a:lvl1pPr algn="l" defTabSz="967710" rtl="0" eaLnBrk="1" latinLnBrk="0" hangingPunct="1">
        <a:lnSpc>
          <a:spcPct val="90000"/>
        </a:lnSpc>
        <a:spcBef>
          <a:spcPct val="0"/>
        </a:spcBef>
        <a:buNone/>
        <a:defRPr sz="465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1927" indent="-241927" algn="l" defTabSz="967710" rtl="0" eaLnBrk="1" latinLnBrk="0" hangingPunct="1">
        <a:lnSpc>
          <a:spcPct val="90000"/>
        </a:lnSpc>
        <a:spcBef>
          <a:spcPts val="1058"/>
        </a:spcBef>
        <a:buFont typeface="Arial" panose="020B0604020202020204" pitchFamily="34" charset="0"/>
        <a:buChar char="•"/>
        <a:defRPr sz="2963" kern="1200">
          <a:solidFill>
            <a:schemeClr val="tx1"/>
          </a:solidFill>
          <a:latin typeface="+mn-lt"/>
          <a:ea typeface="+mn-ea"/>
          <a:cs typeface="+mn-cs"/>
        </a:defRPr>
      </a:lvl1pPr>
      <a:lvl2pPr marL="725782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2540" kern="1200">
          <a:solidFill>
            <a:schemeClr val="tx1"/>
          </a:solidFill>
          <a:latin typeface="+mn-lt"/>
          <a:ea typeface="+mn-ea"/>
          <a:cs typeface="+mn-cs"/>
        </a:defRPr>
      </a:lvl2pPr>
      <a:lvl3pPr marL="1209637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2117" kern="1200">
          <a:solidFill>
            <a:schemeClr val="tx1"/>
          </a:solidFill>
          <a:latin typeface="+mn-lt"/>
          <a:ea typeface="+mn-ea"/>
          <a:cs typeface="+mn-cs"/>
        </a:defRPr>
      </a:lvl3pPr>
      <a:lvl4pPr marL="1693492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1905" kern="1200">
          <a:solidFill>
            <a:schemeClr val="tx1"/>
          </a:solidFill>
          <a:latin typeface="+mn-lt"/>
          <a:ea typeface="+mn-ea"/>
          <a:cs typeface="+mn-cs"/>
        </a:defRPr>
      </a:lvl4pPr>
      <a:lvl5pPr marL="2177346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1905" kern="1200">
          <a:solidFill>
            <a:schemeClr val="tx1"/>
          </a:solidFill>
          <a:latin typeface="+mn-lt"/>
          <a:ea typeface="+mn-ea"/>
          <a:cs typeface="+mn-cs"/>
        </a:defRPr>
      </a:lvl5pPr>
      <a:lvl6pPr marL="2661201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1905" kern="1200">
          <a:solidFill>
            <a:schemeClr val="tx1"/>
          </a:solidFill>
          <a:latin typeface="+mn-lt"/>
          <a:ea typeface="+mn-ea"/>
          <a:cs typeface="+mn-cs"/>
        </a:defRPr>
      </a:lvl6pPr>
      <a:lvl7pPr marL="3145056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1905" kern="1200">
          <a:solidFill>
            <a:schemeClr val="tx1"/>
          </a:solidFill>
          <a:latin typeface="+mn-lt"/>
          <a:ea typeface="+mn-ea"/>
          <a:cs typeface="+mn-cs"/>
        </a:defRPr>
      </a:lvl7pPr>
      <a:lvl8pPr marL="3628911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1905" kern="1200">
          <a:solidFill>
            <a:schemeClr val="tx1"/>
          </a:solidFill>
          <a:latin typeface="+mn-lt"/>
          <a:ea typeface="+mn-ea"/>
          <a:cs typeface="+mn-cs"/>
        </a:defRPr>
      </a:lvl8pPr>
      <a:lvl9pPr marL="4112765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19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1pPr>
      <a:lvl2pPr marL="483855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2pPr>
      <a:lvl3pPr marL="967710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3pPr>
      <a:lvl4pPr marL="1451564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4pPr>
      <a:lvl5pPr marL="1935419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5pPr>
      <a:lvl6pPr marL="2419274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6pPr>
      <a:lvl7pPr marL="2903129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7pPr>
      <a:lvl8pPr marL="3386983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8pPr>
      <a:lvl9pPr marL="3870838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stomShape 3"/>
          <p:cNvSpPr/>
          <p:nvPr/>
        </p:nvSpPr>
        <p:spPr>
          <a:xfrm>
            <a:off x="11849360" y="4151264"/>
            <a:ext cx="378317" cy="116202"/>
          </a:xfrm>
          <a:prstGeom prst="rect">
            <a:avLst/>
          </a:prstGeom>
          <a:solidFill>
            <a:srgbClr val="E4311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DE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8098" y="-76198"/>
            <a:ext cx="12267680" cy="114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22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txStyles>
    <p:titleStyle>
      <a:lvl1pPr algn="l" defTabSz="967710" rtl="0" eaLnBrk="1" latinLnBrk="0" hangingPunct="1">
        <a:lnSpc>
          <a:spcPct val="90000"/>
        </a:lnSpc>
        <a:spcBef>
          <a:spcPct val="0"/>
        </a:spcBef>
        <a:buNone/>
        <a:defRPr sz="465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1927" indent="-241927" algn="l" defTabSz="967710" rtl="0" eaLnBrk="1" latinLnBrk="0" hangingPunct="1">
        <a:lnSpc>
          <a:spcPct val="90000"/>
        </a:lnSpc>
        <a:spcBef>
          <a:spcPts val="1058"/>
        </a:spcBef>
        <a:buFont typeface="Arial" panose="020B0604020202020204" pitchFamily="34" charset="0"/>
        <a:buChar char="•"/>
        <a:defRPr sz="2963" kern="1200">
          <a:solidFill>
            <a:schemeClr val="tx1"/>
          </a:solidFill>
          <a:latin typeface="+mn-lt"/>
          <a:ea typeface="+mn-ea"/>
          <a:cs typeface="+mn-cs"/>
        </a:defRPr>
      </a:lvl1pPr>
      <a:lvl2pPr marL="725782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2540" kern="1200">
          <a:solidFill>
            <a:schemeClr val="tx1"/>
          </a:solidFill>
          <a:latin typeface="+mn-lt"/>
          <a:ea typeface="+mn-ea"/>
          <a:cs typeface="+mn-cs"/>
        </a:defRPr>
      </a:lvl2pPr>
      <a:lvl3pPr marL="1209637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2117" kern="1200">
          <a:solidFill>
            <a:schemeClr val="tx1"/>
          </a:solidFill>
          <a:latin typeface="+mn-lt"/>
          <a:ea typeface="+mn-ea"/>
          <a:cs typeface="+mn-cs"/>
        </a:defRPr>
      </a:lvl3pPr>
      <a:lvl4pPr marL="1693492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1905" kern="1200">
          <a:solidFill>
            <a:schemeClr val="tx1"/>
          </a:solidFill>
          <a:latin typeface="+mn-lt"/>
          <a:ea typeface="+mn-ea"/>
          <a:cs typeface="+mn-cs"/>
        </a:defRPr>
      </a:lvl4pPr>
      <a:lvl5pPr marL="2177346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1905" kern="1200">
          <a:solidFill>
            <a:schemeClr val="tx1"/>
          </a:solidFill>
          <a:latin typeface="+mn-lt"/>
          <a:ea typeface="+mn-ea"/>
          <a:cs typeface="+mn-cs"/>
        </a:defRPr>
      </a:lvl5pPr>
      <a:lvl6pPr marL="2661201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1905" kern="1200">
          <a:solidFill>
            <a:schemeClr val="tx1"/>
          </a:solidFill>
          <a:latin typeface="+mn-lt"/>
          <a:ea typeface="+mn-ea"/>
          <a:cs typeface="+mn-cs"/>
        </a:defRPr>
      </a:lvl6pPr>
      <a:lvl7pPr marL="3145056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1905" kern="1200">
          <a:solidFill>
            <a:schemeClr val="tx1"/>
          </a:solidFill>
          <a:latin typeface="+mn-lt"/>
          <a:ea typeface="+mn-ea"/>
          <a:cs typeface="+mn-cs"/>
        </a:defRPr>
      </a:lvl7pPr>
      <a:lvl8pPr marL="3628911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1905" kern="1200">
          <a:solidFill>
            <a:schemeClr val="tx1"/>
          </a:solidFill>
          <a:latin typeface="+mn-lt"/>
          <a:ea typeface="+mn-ea"/>
          <a:cs typeface="+mn-cs"/>
        </a:defRPr>
      </a:lvl8pPr>
      <a:lvl9pPr marL="4112765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19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1pPr>
      <a:lvl2pPr marL="483855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2pPr>
      <a:lvl3pPr marL="967710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3pPr>
      <a:lvl4pPr marL="1451564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4pPr>
      <a:lvl5pPr marL="1935419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5pPr>
      <a:lvl6pPr marL="2419274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6pPr>
      <a:lvl7pPr marL="2903129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7pPr>
      <a:lvl8pPr marL="3386983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8pPr>
      <a:lvl9pPr marL="3870838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8098" y="-76198"/>
            <a:ext cx="12267680" cy="761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726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txStyles>
    <p:titleStyle>
      <a:lvl1pPr algn="l" defTabSz="967710" rtl="0" eaLnBrk="1" latinLnBrk="0" hangingPunct="1">
        <a:lnSpc>
          <a:spcPct val="90000"/>
        </a:lnSpc>
        <a:spcBef>
          <a:spcPct val="0"/>
        </a:spcBef>
        <a:buNone/>
        <a:defRPr sz="465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1927" indent="-241927" algn="l" defTabSz="967710" rtl="0" eaLnBrk="1" latinLnBrk="0" hangingPunct="1">
        <a:lnSpc>
          <a:spcPct val="90000"/>
        </a:lnSpc>
        <a:spcBef>
          <a:spcPts val="1058"/>
        </a:spcBef>
        <a:buFont typeface="Arial" panose="020B0604020202020204" pitchFamily="34" charset="0"/>
        <a:buChar char="•"/>
        <a:defRPr sz="2963" kern="1200">
          <a:solidFill>
            <a:schemeClr val="tx1"/>
          </a:solidFill>
          <a:latin typeface="+mn-lt"/>
          <a:ea typeface="+mn-ea"/>
          <a:cs typeface="+mn-cs"/>
        </a:defRPr>
      </a:lvl1pPr>
      <a:lvl2pPr marL="725782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2540" kern="1200">
          <a:solidFill>
            <a:schemeClr val="tx1"/>
          </a:solidFill>
          <a:latin typeface="+mn-lt"/>
          <a:ea typeface="+mn-ea"/>
          <a:cs typeface="+mn-cs"/>
        </a:defRPr>
      </a:lvl2pPr>
      <a:lvl3pPr marL="1209637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2117" kern="1200">
          <a:solidFill>
            <a:schemeClr val="tx1"/>
          </a:solidFill>
          <a:latin typeface="+mn-lt"/>
          <a:ea typeface="+mn-ea"/>
          <a:cs typeface="+mn-cs"/>
        </a:defRPr>
      </a:lvl3pPr>
      <a:lvl4pPr marL="1693492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1905" kern="1200">
          <a:solidFill>
            <a:schemeClr val="tx1"/>
          </a:solidFill>
          <a:latin typeface="+mn-lt"/>
          <a:ea typeface="+mn-ea"/>
          <a:cs typeface="+mn-cs"/>
        </a:defRPr>
      </a:lvl4pPr>
      <a:lvl5pPr marL="2177346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1905" kern="1200">
          <a:solidFill>
            <a:schemeClr val="tx1"/>
          </a:solidFill>
          <a:latin typeface="+mn-lt"/>
          <a:ea typeface="+mn-ea"/>
          <a:cs typeface="+mn-cs"/>
        </a:defRPr>
      </a:lvl5pPr>
      <a:lvl6pPr marL="2661201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1905" kern="1200">
          <a:solidFill>
            <a:schemeClr val="tx1"/>
          </a:solidFill>
          <a:latin typeface="+mn-lt"/>
          <a:ea typeface="+mn-ea"/>
          <a:cs typeface="+mn-cs"/>
        </a:defRPr>
      </a:lvl6pPr>
      <a:lvl7pPr marL="3145056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1905" kern="1200">
          <a:solidFill>
            <a:schemeClr val="tx1"/>
          </a:solidFill>
          <a:latin typeface="+mn-lt"/>
          <a:ea typeface="+mn-ea"/>
          <a:cs typeface="+mn-cs"/>
        </a:defRPr>
      </a:lvl7pPr>
      <a:lvl8pPr marL="3628911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1905" kern="1200">
          <a:solidFill>
            <a:schemeClr val="tx1"/>
          </a:solidFill>
          <a:latin typeface="+mn-lt"/>
          <a:ea typeface="+mn-ea"/>
          <a:cs typeface="+mn-cs"/>
        </a:defRPr>
      </a:lvl8pPr>
      <a:lvl9pPr marL="4112765" indent="-241927" algn="l" defTabSz="967710" rtl="0" eaLnBrk="1" latinLnBrk="0" hangingPunct="1">
        <a:lnSpc>
          <a:spcPct val="90000"/>
        </a:lnSpc>
        <a:spcBef>
          <a:spcPts val="529"/>
        </a:spcBef>
        <a:buFont typeface="Arial" panose="020B0604020202020204" pitchFamily="34" charset="0"/>
        <a:buChar char="•"/>
        <a:defRPr sz="19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1pPr>
      <a:lvl2pPr marL="483855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2pPr>
      <a:lvl3pPr marL="967710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3pPr>
      <a:lvl4pPr marL="1451564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4pPr>
      <a:lvl5pPr marL="1935419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5pPr>
      <a:lvl6pPr marL="2419274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6pPr>
      <a:lvl7pPr marL="2903129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7pPr>
      <a:lvl8pPr marL="3386983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8pPr>
      <a:lvl9pPr marL="3870838" algn="l" defTabSz="967710" rtl="0" eaLnBrk="1" latinLnBrk="0" hangingPunct="1">
        <a:defRPr sz="19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otball-data.org/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www.whoscored.com/statistics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themoviedb.org/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s.deutschebahn.com/db-api-marketplace/apis/product/ris-stations" TargetMode="External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D94F1-6FCB-198D-EAE3-E2CB651321C5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2281237" y="1790700"/>
            <a:ext cx="7629525" cy="1416050"/>
          </a:xfrm>
        </p:spPr>
        <p:txBody>
          <a:bodyPr>
            <a:noAutofit/>
          </a:bodyPr>
          <a:lstStyle/>
          <a:p>
            <a:r>
              <a:rPr lang="en-US" sz="7200" dirty="0"/>
              <a:t>Data science Projekt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FD099F-2692-1C3A-EE5C-8055FE60BFAB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648700" y="3600450"/>
            <a:ext cx="3508375" cy="5160963"/>
          </a:xfrm>
        </p:spPr>
        <p:txBody>
          <a:bodyPr>
            <a:normAutofit/>
          </a:bodyPr>
          <a:lstStyle/>
          <a:p>
            <a:pPr marL="0" indent="0" algn="r">
              <a:buNone/>
            </a:pPr>
            <a:r>
              <a:rPr lang="en-US" dirty="0">
                <a:solidFill>
                  <a:schemeClr val="tx1"/>
                </a:solidFill>
              </a:rPr>
              <a:t>Group 10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Florian </a:t>
            </a:r>
            <a:r>
              <a:rPr lang="en-US" dirty="0" err="1">
                <a:solidFill>
                  <a:schemeClr val="tx1"/>
                </a:solidFill>
              </a:rPr>
              <a:t>Hinrichsen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Kirill Norinskiy</a:t>
            </a:r>
          </a:p>
          <a:p>
            <a:r>
              <a:rPr lang="en-US" dirty="0">
                <a:solidFill>
                  <a:schemeClr val="tx1"/>
                </a:solidFill>
              </a:rPr>
              <a:t>Cat lam tang</a:t>
            </a:r>
          </a:p>
          <a:p>
            <a:r>
              <a:rPr lang="en-US" dirty="0">
                <a:solidFill>
                  <a:schemeClr val="tx1"/>
                </a:solidFill>
              </a:rPr>
              <a:t>Tino </a:t>
            </a:r>
            <a:r>
              <a:rPr lang="en-DE" dirty="0">
                <a:solidFill>
                  <a:schemeClr val="tx1"/>
                </a:solidFill>
              </a:rPr>
              <a:t>Hinrichs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366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D5E69CB2-41EA-2EA7-A09A-59A267D58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214" y="1955800"/>
            <a:ext cx="4432434" cy="362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94BA02E-86DB-4780-E800-EC637CEC4B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375" y="3282949"/>
            <a:ext cx="4787025" cy="3478411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4AFDEC6-7287-B5EA-91A5-EEB8104049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4221" y="1123950"/>
            <a:ext cx="6187214" cy="209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8685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32613-06BD-E01C-7E05-1345C830C2F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749300"/>
            <a:ext cx="6521450" cy="717550"/>
          </a:xfrm>
        </p:spPr>
        <p:txBody>
          <a:bodyPr>
            <a:normAutofit fontScale="90000"/>
          </a:bodyPr>
          <a:lstStyle/>
          <a:p>
            <a:r>
              <a:rPr lang="en-US" sz="4800" b="1" i="0" dirty="0">
                <a:solidFill>
                  <a:srgbClr val="1F2328"/>
                </a:solidFill>
                <a:effectLst/>
                <a:latin typeface="-apple-system"/>
              </a:rPr>
              <a:t>Football</a:t>
            </a:r>
            <a:endParaRPr lang="en-US" sz="4800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1D573E8-28FA-B879-E6CB-4C9E5DDEF764}"/>
              </a:ext>
            </a:extLst>
          </p:cNvPr>
          <p:cNvPicPr>
            <a:picLocks noGrp="1" noChangeAspect="1"/>
          </p:cNvPicPr>
          <p:nvPr>
            <p:ph type="pic" idx="4294967295"/>
          </p:nvPr>
        </p:nvPicPr>
        <p:blipFill>
          <a:blip r:embed="rId2"/>
          <a:srcRect l="38596" r="38596"/>
          <a:stretch>
            <a:fillRect/>
          </a:stretch>
        </p:blipFill>
        <p:spPr>
          <a:xfrm>
            <a:off x="7597775" y="1287246"/>
            <a:ext cx="3978275" cy="5488204"/>
          </a:xfrm>
          <a:prstGeom prst="round2DiagRect">
            <a:avLst>
              <a:gd name="adj1" fmla="val 5608"/>
              <a:gd name="adj2" fmla="val 31173"/>
            </a:avLst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D41ED3-96F7-4AF9-0C6F-9CBC6E988BFF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-57150" y="1538288"/>
            <a:ext cx="6521450" cy="4570412"/>
          </a:xfrm>
        </p:spPr>
        <p:txBody>
          <a:bodyPr/>
          <a:lstStyle/>
          <a:p>
            <a:pPr marL="0" indent="0">
              <a:buNone/>
            </a:pPr>
            <a:r>
              <a:rPr lang="en-US" sz="3000" b="1" i="0" dirty="0">
                <a:solidFill>
                  <a:srgbClr val="1F2328"/>
                </a:solidFill>
                <a:effectLst/>
                <a:latin typeface="-apple-system"/>
              </a:rPr>
              <a:t>APIs</a:t>
            </a:r>
            <a:r>
              <a:rPr lang="en-DE" sz="3000" b="1" i="0" dirty="0">
                <a:solidFill>
                  <a:srgbClr val="1F2328"/>
                </a:solidFill>
                <a:effectLst/>
                <a:latin typeface="-apple-system"/>
              </a:rPr>
              <a:t>:</a:t>
            </a:r>
            <a:endParaRPr lang="en-US" sz="3000" b="1" i="0" dirty="0">
              <a:solidFill>
                <a:srgbClr val="1F2328"/>
              </a:solidFill>
              <a:effectLst/>
              <a:latin typeface="-apple-system"/>
            </a:endParaRPr>
          </a:p>
          <a:p>
            <a:pPr marL="0" indent="0" algn="l">
              <a:spcAft>
                <a:spcPts val="1200"/>
              </a:spcAft>
              <a:buNone/>
            </a:pPr>
            <a:r>
              <a:rPr lang="en-US" sz="3000" b="0" i="0" u="sng" dirty="0">
                <a:solidFill>
                  <a:srgbClr val="0969DA"/>
                </a:solidFill>
                <a:effectLst/>
                <a:latin typeface="-apple-system"/>
                <a:hlinkClick r:id="rId3"/>
              </a:rPr>
              <a:t>https://www.football-data.org</a:t>
            </a:r>
            <a:endParaRPr lang="en-US" sz="3000" b="0" i="0" dirty="0">
              <a:solidFill>
                <a:srgbClr val="1F2328"/>
              </a:solidFill>
              <a:effectLst/>
              <a:latin typeface="-apple-system"/>
            </a:endParaRPr>
          </a:p>
          <a:p>
            <a:pPr marL="0" indent="0" algn="l">
              <a:spcAft>
                <a:spcPts val="1200"/>
              </a:spcAft>
              <a:buNone/>
            </a:pPr>
            <a:r>
              <a:rPr lang="en-US" sz="3000" b="0" i="0" u="sng" dirty="0">
                <a:solidFill>
                  <a:srgbClr val="0969DA"/>
                </a:solidFill>
                <a:effectLst/>
                <a:latin typeface="-apple-system"/>
                <a:hlinkClick r:id="rId4"/>
              </a:rPr>
              <a:t>https://www.whoscored.com/statistics</a:t>
            </a:r>
            <a:endParaRPr lang="en-US" sz="3000" b="0" i="0" u="sng" dirty="0">
              <a:solidFill>
                <a:srgbClr val="0969DA"/>
              </a:solidFill>
              <a:effectLst/>
              <a:latin typeface="-apple-system"/>
            </a:endParaRPr>
          </a:p>
          <a:p>
            <a:pPr marL="0" indent="0">
              <a:spcAft>
                <a:spcPts val="1200"/>
              </a:spcAft>
              <a:buNone/>
            </a:pPr>
            <a:r>
              <a:rPr lang="en-US" sz="3000" u="sng">
                <a:solidFill>
                  <a:srgbClr val="0969DA"/>
                </a:solidFill>
                <a:latin typeface="-apple-system"/>
              </a:rPr>
              <a:t>https://www.transfermarkt.de/</a:t>
            </a:r>
            <a:endParaRPr lang="en-US" sz="3000" b="0" i="0" dirty="0">
              <a:solidFill>
                <a:srgbClr val="1F2328"/>
              </a:solidFill>
              <a:effectLst/>
              <a:latin typeface="-apple-system"/>
            </a:endParaRPr>
          </a:p>
          <a:p>
            <a:pPr marL="0" indent="0">
              <a:buNone/>
            </a:pPr>
            <a:r>
              <a:rPr lang="en-DE" sz="3000" b="1" i="0" dirty="0">
                <a:solidFill>
                  <a:srgbClr val="1F2328"/>
                </a:solidFill>
                <a:effectLst/>
                <a:latin typeface="-apple-system"/>
              </a:rPr>
              <a:t>Scope:</a:t>
            </a:r>
          </a:p>
          <a:p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Each question is about the 2024-25 Bundesliga season.</a:t>
            </a:r>
            <a:endParaRPr lang="en-US" sz="3000" b="1" i="0" dirty="0">
              <a:solidFill>
                <a:srgbClr val="1F2328"/>
              </a:solidFill>
              <a:effectLst/>
              <a:latin typeface="-apple-system"/>
            </a:endParaRPr>
          </a:p>
          <a:p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197345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05803-5F05-6896-F49A-385D2E32C332}"/>
              </a:ext>
            </a:extLst>
          </p:cNvPr>
          <p:cNvSpPr txBox="1"/>
          <p:nvPr/>
        </p:nvSpPr>
        <p:spPr>
          <a:xfrm>
            <a:off x="463550" y="972190"/>
            <a:ext cx="10731500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sz="3000" b="1" i="0" dirty="0">
                <a:solidFill>
                  <a:srgbClr val="1F2328"/>
                </a:solidFill>
                <a:effectLst/>
                <a:latin typeface="-apple-system"/>
              </a:rPr>
              <a:t>Research questions</a:t>
            </a:r>
            <a:r>
              <a:rPr lang="en-US" sz="3000" b="1" dirty="0">
                <a:solidFill>
                  <a:srgbClr val="1F2328"/>
                </a:solidFill>
                <a:latin typeface="-apple-system"/>
              </a:rPr>
              <a:t>:</a:t>
            </a:r>
            <a:endParaRPr lang="en-US" sz="3000" b="1" i="0" dirty="0">
              <a:solidFill>
                <a:srgbClr val="1F2328"/>
              </a:solidFill>
              <a:effectLst/>
              <a:latin typeface="-apple-system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 How does the weather affect the number of goals in a match?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 How does the remaining contract duration affect a player's performance as measured by the overall rating on who scored?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 How does the time between winning possession in your own half and the first shot correlate with the probability of scoring (per shot)?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 Which players perform particularly well in home matches and which in away matches?</a:t>
            </a:r>
          </a:p>
        </p:txBody>
      </p:sp>
    </p:spTree>
    <p:extLst>
      <p:ext uri="{BB962C8B-B14F-4D97-AF65-F5344CB8AC3E}">
        <p14:creationId xmlns:p14="http://schemas.microsoft.com/office/powerpoint/2010/main" val="3721733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0D29BD6-37B3-2DC9-F235-817C7EFFABB5}"/>
              </a:ext>
            </a:extLst>
          </p:cNvPr>
          <p:cNvSpPr txBox="1"/>
          <p:nvPr/>
        </p:nvSpPr>
        <p:spPr>
          <a:xfrm>
            <a:off x="400966" y="1022350"/>
            <a:ext cx="10755984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5. What is the relationship between transfer spending and league points?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6. How does the league position affect ticket prices?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7. What is the relationship between the number of spectators and the number of cards issued (for the home team) per foul?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</a:pPr>
            <a:r>
              <a:rPr lang="en-US" sz="3000" dirty="0">
                <a:solidFill>
                  <a:srgbClr val="1F2328"/>
                </a:solidFill>
                <a:latin typeface="-apple-system"/>
              </a:rPr>
              <a:t>8. </a:t>
            </a: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How do the number and average timing of substitutions affect the number of shots on goal?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9. How does the average player age affect a team's efficiency (goals per shot)?</a:t>
            </a:r>
          </a:p>
        </p:txBody>
      </p:sp>
    </p:spTree>
    <p:extLst>
      <p:ext uri="{BB962C8B-B14F-4D97-AF65-F5344CB8AC3E}">
        <p14:creationId xmlns:p14="http://schemas.microsoft.com/office/powerpoint/2010/main" val="12571614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438FF-AFB2-3DFF-0B48-8D29867204E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723900"/>
            <a:ext cx="5934075" cy="774700"/>
          </a:xfrm>
        </p:spPr>
        <p:txBody>
          <a:bodyPr>
            <a:normAutofit/>
          </a:bodyPr>
          <a:lstStyle/>
          <a:p>
            <a:r>
              <a:rPr lang="en-US" sz="4300" b="1" i="0" dirty="0">
                <a:solidFill>
                  <a:srgbClr val="1F2328"/>
                </a:solidFill>
                <a:effectLst/>
                <a:latin typeface="-apple-system"/>
              </a:rPr>
              <a:t>Movies</a:t>
            </a:r>
            <a:endParaRPr lang="en-US" sz="4800" dirty="0"/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0169EB35-1450-91BF-ACEA-4FA4F6CD90F6}"/>
              </a:ext>
            </a:extLst>
          </p:cNvPr>
          <p:cNvPicPr>
            <a:picLocks noGrp="1" noChangeAspect="1"/>
          </p:cNvPicPr>
          <p:nvPr>
            <p:ph type="pic" idx="4294967295"/>
          </p:nvPr>
        </p:nvPicPr>
        <p:blipFill>
          <a:blip r:embed="rId2"/>
          <a:srcRect t="2900" b="2900"/>
          <a:stretch>
            <a:fillRect/>
          </a:stretch>
        </p:blipFill>
        <p:spPr>
          <a:xfrm>
            <a:off x="8648701" y="1366838"/>
            <a:ext cx="3091890" cy="4368800"/>
          </a:xfrm>
          <a:prstGeom prst="round2DiagRect">
            <a:avLst>
              <a:gd name="adj1" fmla="val 5608"/>
              <a:gd name="adj2" fmla="val 27359"/>
            </a:avLst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7D7393-1578-52CC-724A-18B56502DD27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1366838"/>
            <a:ext cx="8788400" cy="525621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000" b="1" i="0" dirty="0">
                <a:solidFill>
                  <a:srgbClr val="1F2328"/>
                </a:solidFill>
                <a:effectLst/>
                <a:latin typeface="-apple-system"/>
              </a:rPr>
              <a:t>APIs:</a:t>
            </a:r>
          </a:p>
          <a:p>
            <a:pPr marL="0" indent="0">
              <a:buNone/>
            </a:pPr>
            <a:r>
              <a:rPr lang="en-US" sz="3000" b="0" i="0" u="sng" dirty="0">
                <a:solidFill>
                  <a:srgbClr val="0969DA"/>
                </a:solidFill>
                <a:effectLst/>
                <a:latin typeface="-apple-system"/>
                <a:hlinkClick r:id="rId3"/>
              </a:rPr>
              <a:t>https://developer.themoviedb.org/</a:t>
            </a:r>
            <a:endParaRPr lang="en-US" sz="3000" b="0" i="0" u="sng" dirty="0">
              <a:solidFill>
                <a:srgbClr val="0969DA"/>
              </a:solidFill>
              <a:effectLst/>
              <a:latin typeface="-apple-system"/>
            </a:endParaRPr>
          </a:p>
          <a:p>
            <a:pPr marL="0" indent="0">
              <a:buNone/>
            </a:pPr>
            <a:endParaRPr lang="en-US" sz="3000" b="0" i="0" dirty="0">
              <a:solidFill>
                <a:srgbClr val="1F2328"/>
              </a:solidFill>
              <a:effectLst/>
              <a:latin typeface="-apple-system"/>
            </a:endParaRPr>
          </a:p>
          <a:p>
            <a:pPr marL="0" indent="0" algn="l">
              <a:spcAft>
                <a:spcPts val="1200"/>
              </a:spcAft>
              <a:buNone/>
            </a:pPr>
            <a:r>
              <a:rPr lang="en-DE" sz="3000" dirty="0">
                <a:solidFill>
                  <a:srgbClr val="1F2328"/>
                </a:solidFill>
                <a:latin typeface="-apple-system"/>
              </a:rPr>
              <a:t>Scope:</a:t>
            </a:r>
            <a:endParaRPr lang="en-DE" sz="3000" b="0" i="0" dirty="0">
              <a:solidFill>
                <a:srgbClr val="1F2328"/>
              </a:solidFill>
              <a:effectLst/>
              <a:latin typeface="-apple-system"/>
            </a:endParaRP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Rating of a movie and popularity of an actor refers to the rating and popularity from </a:t>
            </a:r>
            <a:r>
              <a:rPr lang="en-US" sz="3000" b="1" i="1" u="sng" dirty="0">
                <a:solidFill>
                  <a:srgbClr val="1F2328"/>
                </a:solidFill>
                <a:effectLst/>
                <a:latin typeface="-apple-system"/>
              </a:rPr>
              <a:t>themoviedb.</a:t>
            </a:r>
            <a:endParaRPr lang="en-US" sz="3000" b="0" i="0" dirty="0">
              <a:solidFill>
                <a:srgbClr val="1F2328"/>
              </a:solidFill>
              <a:effectLst/>
              <a:latin typeface="-apple-system"/>
            </a:endParaRP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We only look at actors with a popularity higher than 60.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We only look at movies which are in the </a:t>
            </a:r>
            <a:r>
              <a:rPr lang="en-US" sz="3000" b="1" i="1" u="sng" dirty="0">
                <a:solidFill>
                  <a:srgbClr val="1F2328"/>
                </a:solidFill>
                <a:effectLst/>
                <a:latin typeface="-apple-system"/>
              </a:rPr>
              <a:t>themoviedb.</a:t>
            </a:r>
            <a:endParaRPr lang="en-US" sz="3000" b="0" i="0" dirty="0">
              <a:solidFill>
                <a:srgbClr val="1F2328"/>
              </a:solidFill>
              <a:effectLst/>
              <a:latin typeface="-apple-system"/>
            </a:endParaRPr>
          </a:p>
          <a:p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41538730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05803-5F05-6896-F49A-385D2E32C332}"/>
              </a:ext>
            </a:extLst>
          </p:cNvPr>
          <p:cNvSpPr txBox="1"/>
          <p:nvPr/>
        </p:nvSpPr>
        <p:spPr>
          <a:xfrm>
            <a:off x="463550" y="972190"/>
            <a:ext cx="11277600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sz="3000" b="1" i="0" dirty="0">
                <a:solidFill>
                  <a:srgbClr val="1F2328"/>
                </a:solidFill>
                <a:effectLst/>
                <a:latin typeface="-apple-system"/>
              </a:rPr>
              <a:t>Research questions</a:t>
            </a:r>
            <a:r>
              <a:rPr lang="en-US" sz="3000" b="1" dirty="0">
                <a:solidFill>
                  <a:srgbClr val="1F2328"/>
                </a:solidFill>
                <a:latin typeface="-apple-system"/>
              </a:rPr>
              <a:t>:</a:t>
            </a:r>
            <a:endParaRPr lang="en-US" sz="3000" b="1" i="0" dirty="0">
              <a:solidFill>
                <a:srgbClr val="1F2328"/>
              </a:solidFill>
              <a:effectLst/>
              <a:latin typeface="-apple-system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 How has the average film budget developed in in the top five film producing countries?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 How does the average length of films differ in the top five film producing countries by Comedy, Action and Crime?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 How does the length of a film affect its rating by Comedy, Action and Crime?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 What is the average rating of a film from a particular production company?</a:t>
            </a:r>
          </a:p>
        </p:txBody>
      </p:sp>
    </p:spTree>
    <p:extLst>
      <p:ext uri="{BB962C8B-B14F-4D97-AF65-F5344CB8AC3E}">
        <p14:creationId xmlns:p14="http://schemas.microsoft.com/office/powerpoint/2010/main" val="31585243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0D29BD6-37B3-2DC9-F235-817C7EFFABB5}"/>
              </a:ext>
            </a:extLst>
          </p:cNvPr>
          <p:cNvSpPr txBox="1"/>
          <p:nvPr/>
        </p:nvSpPr>
        <p:spPr>
          <a:xfrm>
            <a:off x="400966" y="1022350"/>
            <a:ext cx="1075598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</a:pPr>
            <a:r>
              <a:rPr lang="en-US" sz="3000" dirty="0">
                <a:solidFill>
                  <a:srgbClr val="1F2328"/>
                </a:solidFill>
                <a:latin typeface="-apple-system"/>
              </a:rPr>
              <a:t>5.</a:t>
            </a: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 How does the budget affect the rating by Comedy, Action and Crime?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6. How does the budget affect the number of actors?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7. How does the release month of a film affect its box office receipts/ratings?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8. How does the popularity of a film's actors affect its budget/ratings?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</a:pPr>
            <a:r>
              <a:rPr lang="en-US" sz="3000" dirty="0">
                <a:solidFill>
                  <a:srgbClr val="1F2328"/>
                </a:solidFill>
                <a:latin typeface="-apple-system"/>
              </a:rPr>
              <a:t>9. </a:t>
            </a: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How does the age of an actor affect their popularity?</a:t>
            </a:r>
          </a:p>
        </p:txBody>
      </p:sp>
    </p:spTree>
    <p:extLst>
      <p:ext uri="{BB962C8B-B14F-4D97-AF65-F5344CB8AC3E}">
        <p14:creationId xmlns:p14="http://schemas.microsoft.com/office/powerpoint/2010/main" val="197010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40268-78EF-3522-B179-160582BA714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" y="609600"/>
            <a:ext cx="5511800" cy="762000"/>
          </a:xfrm>
        </p:spPr>
        <p:txBody>
          <a:bodyPr>
            <a:normAutofit/>
          </a:bodyPr>
          <a:lstStyle/>
          <a:p>
            <a:r>
              <a:rPr lang="en-US" sz="4300" b="1" i="0" dirty="0">
                <a:solidFill>
                  <a:srgbClr val="1F2328"/>
                </a:solidFill>
                <a:effectLst/>
                <a:latin typeface="-apple-system"/>
              </a:rPr>
              <a:t>Train services</a:t>
            </a:r>
            <a:endParaRPr lang="en-US" sz="4300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863A818C-D8A5-962C-7021-B16291DE70B4}"/>
              </a:ext>
            </a:extLst>
          </p:cNvPr>
          <p:cNvPicPr>
            <a:picLocks noGrp="1" noChangeAspect="1"/>
          </p:cNvPicPr>
          <p:nvPr>
            <p:ph type="pic" idx="4294967295"/>
          </p:nvPr>
        </p:nvPicPr>
        <p:blipFill>
          <a:blip r:embed="rId2"/>
          <a:srcRect t="2900" b="2900"/>
          <a:stretch>
            <a:fillRect/>
          </a:stretch>
        </p:blipFill>
        <p:spPr>
          <a:xfrm>
            <a:off x="7915275" y="1200150"/>
            <a:ext cx="3667125" cy="5181600"/>
          </a:xfrm>
          <a:prstGeom prst="round2DiagRect">
            <a:avLst>
              <a:gd name="adj1" fmla="val 5608"/>
              <a:gd name="adj2" fmla="val 26147"/>
            </a:avLst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0097E1-F14B-0410-9996-0A1FF362BB17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1371600"/>
            <a:ext cx="6997700" cy="4514056"/>
          </a:xfrm>
        </p:spPr>
        <p:txBody>
          <a:bodyPr/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1F2328"/>
                </a:solidFill>
                <a:effectLst/>
                <a:latin typeface="-apple-system"/>
              </a:rPr>
              <a:t>APIs:</a:t>
            </a:r>
          </a:p>
          <a:p>
            <a:pPr marL="0" indent="0" algn="l">
              <a:spcAft>
                <a:spcPts val="1200"/>
              </a:spcAft>
              <a:buNone/>
            </a:pPr>
            <a:r>
              <a:rPr lang="en-US" dirty="0">
                <a:hlinkClick r:id="rId3"/>
              </a:rPr>
              <a:t>RIS::Stations | DB API Marketplace</a:t>
            </a:r>
            <a:endParaRPr lang="en-DE" dirty="0"/>
          </a:p>
          <a:p>
            <a:pPr algn="l">
              <a:spcAft>
                <a:spcPts val="1200"/>
              </a:spcAft>
            </a:pPr>
            <a:r>
              <a:rPr lang="en-DE" sz="2000" b="1" dirty="0">
                <a:solidFill>
                  <a:schemeClr val="bg1"/>
                </a:solidFill>
              </a:rPr>
              <a:t>Scope: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We only look at the Deutsche Bahn.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We only look at the states of Schleswig-Holstein and Hamburg unless specified otherwise.</a:t>
            </a:r>
          </a:p>
        </p:txBody>
      </p:sp>
    </p:spTree>
    <p:extLst>
      <p:ext uri="{BB962C8B-B14F-4D97-AF65-F5344CB8AC3E}">
        <p14:creationId xmlns:p14="http://schemas.microsoft.com/office/powerpoint/2010/main" val="3752967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05803-5F05-6896-F49A-385D2E32C332}"/>
              </a:ext>
            </a:extLst>
          </p:cNvPr>
          <p:cNvSpPr txBox="1"/>
          <p:nvPr/>
        </p:nvSpPr>
        <p:spPr>
          <a:xfrm>
            <a:off x="457200" y="1151453"/>
            <a:ext cx="11277600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sz="3000" b="1" i="0" dirty="0">
                <a:solidFill>
                  <a:srgbClr val="1F2328"/>
                </a:solidFill>
                <a:effectLst/>
                <a:latin typeface="-apple-system"/>
              </a:rPr>
              <a:t>Research questions</a:t>
            </a:r>
            <a:r>
              <a:rPr lang="en-US" sz="3000" b="1" dirty="0">
                <a:solidFill>
                  <a:srgbClr val="1F2328"/>
                </a:solidFill>
                <a:latin typeface="-apple-system"/>
              </a:rPr>
              <a:t>:</a:t>
            </a:r>
            <a:endParaRPr lang="en-US" sz="3000" b="1" i="0" dirty="0">
              <a:solidFill>
                <a:srgbClr val="1F2328"/>
              </a:solidFill>
              <a:effectLst/>
              <a:latin typeface="-apple-system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How does punctuality change throughout the day?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How does the size of the city where a train station is located affect the accessibility of the station?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How does punctuality differ between the seasons?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How does population density along the railway line affect punctuality?</a:t>
            </a:r>
          </a:p>
        </p:txBody>
      </p:sp>
    </p:spTree>
    <p:extLst>
      <p:ext uri="{BB962C8B-B14F-4D97-AF65-F5344CB8AC3E}">
        <p14:creationId xmlns:p14="http://schemas.microsoft.com/office/powerpoint/2010/main" val="1348887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0D29BD6-37B3-2DC9-F235-817C7EFFABB5}"/>
              </a:ext>
            </a:extLst>
          </p:cNvPr>
          <p:cNvSpPr txBox="1"/>
          <p:nvPr/>
        </p:nvSpPr>
        <p:spPr>
          <a:xfrm>
            <a:off x="400966" y="1022350"/>
            <a:ext cx="1075598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sz="3000" dirty="0">
                <a:solidFill>
                  <a:srgbClr val="1F2328"/>
                </a:solidFill>
                <a:latin typeface="-apple-system"/>
              </a:rPr>
              <a:t>5.</a:t>
            </a: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 How does the geographical location of a train station affect the functionality of the elevators?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6. How do Hamburg Central Station and Frankfurt Central Station differ in terms of punctuality?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7. How does the number of lines (per track) affect punctuality?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8. How does the weather affect punctuality in Berlin and Kiel?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</a:pPr>
            <a:r>
              <a:rPr lang="en-US" sz="3000" b="0" i="0" dirty="0">
                <a:solidFill>
                  <a:srgbClr val="1F2328"/>
                </a:solidFill>
                <a:effectLst/>
                <a:latin typeface="-apple-system"/>
              </a:rPr>
              <a:t>9. What impact do major events (e.g., football matches, concerts) have on punctuality?</a:t>
            </a:r>
          </a:p>
        </p:txBody>
      </p:sp>
    </p:spTree>
    <p:extLst>
      <p:ext uri="{BB962C8B-B14F-4D97-AF65-F5344CB8AC3E}">
        <p14:creationId xmlns:p14="http://schemas.microsoft.com/office/powerpoint/2010/main" val="16346626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D2B5CC87-9B27-F5B5-BE5B-F3FB3E969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1284757"/>
            <a:ext cx="6858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8095776"/>
      </p:ext>
    </p:extLst>
  </p:cSld>
  <p:clrMapOvr>
    <a:masterClrMapping/>
  </p:clrMapOvr>
</p:sld>
</file>

<file path=ppt/theme/theme1.xml><?xml version="1.0" encoding="utf-8"?>
<a:theme xmlns:a="http://schemas.openxmlformats.org/drawingml/2006/main" name="Hauptfolie">
  <a:themeElements>
    <a:clrScheme name="Стандартная">
      <a:dk1>
        <a:sysClr val="windowText" lastClr="000000"/>
      </a:dk1>
      <a:lt1>
        <a:sysClr val="window" lastClr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Стандартная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Einfach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inimal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vorlage-jura-16z9-de</Template>
  <TotalTime>0</TotalTime>
  <Words>591</Words>
  <Application>Microsoft Office PowerPoint</Application>
  <PresentationFormat>Breitbild</PresentationFormat>
  <Paragraphs>58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12</vt:i4>
      </vt:variant>
    </vt:vector>
  </HeadingPairs>
  <TitlesOfParts>
    <vt:vector size="18" baseType="lpstr">
      <vt:lpstr>-apple-system</vt:lpstr>
      <vt:lpstr>Arial</vt:lpstr>
      <vt:lpstr>Calibri</vt:lpstr>
      <vt:lpstr>Hauptfolie</vt:lpstr>
      <vt:lpstr>Einfache Folie</vt:lpstr>
      <vt:lpstr>Minimale Folie</vt:lpstr>
      <vt:lpstr>Data science Projekt</vt:lpstr>
      <vt:lpstr>PowerPoint-Präsentation</vt:lpstr>
      <vt:lpstr>Football</vt:lpstr>
      <vt:lpstr>PowerPoint-Präsentation</vt:lpstr>
      <vt:lpstr>PowerPoint-Präsentation</vt:lpstr>
      <vt:lpstr>Movies</vt:lpstr>
      <vt:lpstr>PowerPoint-Präsentation</vt:lpstr>
      <vt:lpstr>PowerPoint-Präsentation</vt:lpstr>
      <vt:lpstr>Train services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Cat Lam Tang</dc:creator>
  <cp:lastModifiedBy>Florian Ivan Hinrichsen</cp:lastModifiedBy>
  <cp:revision>6</cp:revision>
  <dcterms:created xsi:type="dcterms:W3CDTF">2026-02-26T09:55:11Z</dcterms:created>
  <dcterms:modified xsi:type="dcterms:W3CDTF">2026-02-27T08:51:37Z</dcterms:modified>
</cp:coreProperties>
</file>