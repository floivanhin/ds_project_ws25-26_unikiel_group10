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  <p:sldMasterId id="2147483674" r:id="rId2"/>
    <p:sldMasterId id="2147483676" r:id="rId3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6CEA2-BEE3-4E94-BD6B-E98F12968A7C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93AC00-FF3F-4566-AF8A-A95E4F0A52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507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3AC00-FF3F-4566-AF8A-A95E4F0A528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9092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upt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77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88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20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012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ache 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476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83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3"/>
          <p:cNvSpPr/>
          <p:nvPr/>
        </p:nvSpPr>
        <p:spPr>
          <a:xfrm>
            <a:off x="11849360" y="4151264"/>
            <a:ext cx="378317" cy="116202"/>
          </a:xfrm>
          <a:prstGeom prst="rect">
            <a:avLst/>
          </a:prstGeom>
          <a:solidFill>
            <a:srgbClr val="E4311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098" y="-76198"/>
            <a:ext cx="12267680" cy="152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416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</p:sldLayoutIdLst>
  <p:txStyles>
    <p:titleStyle>
      <a:lvl1pPr algn="l" defTabSz="967710" rtl="0" eaLnBrk="1" latinLnBrk="0" hangingPunct="1">
        <a:lnSpc>
          <a:spcPct val="90000"/>
        </a:lnSpc>
        <a:spcBef>
          <a:spcPct val="0"/>
        </a:spcBef>
        <a:buNone/>
        <a:defRPr sz="46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27" indent="-241927" algn="l" defTabSz="967710" rtl="0" eaLnBrk="1" latinLnBrk="0" hangingPunct="1">
        <a:lnSpc>
          <a:spcPct val="90000"/>
        </a:lnSpc>
        <a:spcBef>
          <a:spcPts val="1058"/>
        </a:spcBef>
        <a:buFont typeface="Arial" panose="020B0604020202020204" pitchFamily="34" charset="0"/>
        <a:buChar char="•"/>
        <a:defRPr sz="2963" kern="1200">
          <a:solidFill>
            <a:schemeClr val="tx1"/>
          </a:solidFill>
          <a:latin typeface="+mn-lt"/>
          <a:ea typeface="+mn-ea"/>
          <a:cs typeface="+mn-cs"/>
        </a:defRPr>
      </a:lvl1pPr>
      <a:lvl2pPr marL="72578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2pPr>
      <a:lvl3pPr marL="1209637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3pPr>
      <a:lvl4pPr marL="169349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217734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66120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05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3"/>
          <p:cNvSpPr/>
          <p:nvPr/>
        </p:nvSpPr>
        <p:spPr>
          <a:xfrm>
            <a:off x="11849360" y="4151264"/>
            <a:ext cx="378317" cy="116202"/>
          </a:xfrm>
          <a:prstGeom prst="rect">
            <a:avLst/>
          </a:prstGeom>
          <a:solidFill>
            <a:srgbClr val="E4311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098" y="-76198"/>
            <a:ext cx="12267680" cy="114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2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67710" rtl="0" eaLnBrk="1" latinLnBrk="0" hangingPunct="1">
        <a:lnSpc>
          <a:spcPct val="90000"/>
        </a:lnSpc>
        <a:spcBef>
          <a:spcPct val="0"/>
        </a:spcBef>
        <a:buNone/>
        <a:defRPr sz="46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27" indent="-241927" algn="l" defTabSz="967710" rtl="0" eaLnBrk="1" latinLnBrk="0" hangingPunct="1">
        <a:lnSpc>
          <a:spcPct val="90000"/>
        </a:lnSpc>
        <a:spcBef>
          <a:spcPts val="1058"/>
        </a:spcBef>
        <a:buFont typeface="Arial" panose="020B0604020202020204" pitchFamily="34" charset="0"/>
        <a:buChar char="•"/>
        <a:defRPr sz="2963" kern="1200">
          <a:solidFill>
            <a:schemeClr val="tx1"/>
          </a:solidFill>
          <a:latin typeface="+mn-lt"/>
          <a:ea typeface="+mn-ea"/>
          <a:cs typeface="+mn-cs"/>
        </a:defRPr>
      </a:lvl1pPr>
      <a:lvl2pPr marL="72578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2pPr>
      <a:lvl3pPr marL="1209637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3pPr>
      <a:lvl4pPr marL="169349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217734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66120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05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098" y="-76198"/>
            <a:ext cx="12267680" cy="76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72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67710" rtl="0" eaLnBrk="1" latinLnBrk="0" hangingPunct="1">
        <a:lnSpc>
          <a:spcPct val="90000"/>
        </a:lnSpc>
        <a:spcBef>
          <a:spcPct val="0"/>
        </a:spcBef>
        <a:buNone/>
        <a:defRPr sz="46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27" indent="-241927" algn="l" defTabSz="967710" rtl="0" eaLnBrk="1" latinLnBrk="0" hangingPunct="1">
        <a:lnSpc>
          <a:spcPct val="90000"/>
        </a:lnSpc>
        <a:spcBef>
          <a:spcPts val="1058"/>
        </a:spcBef>
        <a:buFont typeface="Arial" panose="020B0604020202020204" pitchFamily="34" charset="0"/>
        <a:buChar char="•"/>
        <a:defRPr sz="2963" kern="1200">
          <a:solidFill>
            <a:schemeClr val="tx1"/>
          </a:solidFill>
          <a:latin typeface="+mn-lt"/>
          <a:ea typeface="+mn-ea"/>
          <a:cs typeface="+mn-cs"/>
        </a:defRPr>
      </a:lvl1pPr>
      <a:lvl2pPr marL="72578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2pPr>
      <a:lvl3pPr marL="1209637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3pPr>
      <a:lvl4pPr marL="1693492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217734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66120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05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94F1-6FCB-198D-EAE3-E2CB651321C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281237" y="1790700"/>
            <a:ext cx="7629525" cy="1416050"/>
          </a:xfrm>
        </p:spPr>
        <p:txBody>
          <a:bodyPr>
            <a:noAutofit/>
          </a:bodyPr>
          <a:lstStyle/>
          <a:p>
            <a:r>
              <a:rPr lang="en-US" sz="7200" dirty="0"/>
              <a:t>Data science Projekt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D099F-2692-1C3A-EE5C-8055FE60BFA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648700" y="3600450"/>
            <a:ext cx="3508375" cy="5160963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dirty="0">
                <a:solidFill>
                  <a:schemeClr val="tx1"/>
                </a:solidFill>
              </a:rPr>
              <a:t>Group 10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Florian </a:t>
            </a:r>
            <a:r>
              <a:rPr lang="en-US" dirty="0" err="1">
                <a:solidFill>
                  <a:schemeClr val="tx1"/>
                </a:solidFill>
              </a:rPr>
              <a:t>Hinrichsen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Kirill Norinskiy</a:t>
            </a:r>
          </a:p>
          <a:p>
            <a:r>
              <a:rPr lang="en-US" dirty="0">
                <a:solidFill>
                  <a:schemeClr val="tx1"/>
                </a:solidFill>
              </a:rPr>
              <a:t>Cat lam tang</a:t>
            </a:r>
          </a:p>
          <a:p>
            <a:r>
              <a:rPr lang="en-US" dirty="0">
                <a:solidFill>
                  <a:schemeClr val="tx1"/>
                </a:solidFill>
              </a:rPr>
              <a:t>Tino </a:t>
            </a:r>
            <a:r>
              <a:rPr lang="en-DE" dirty="0">
                <a:solidFill>
                  <a:schemeClr val="tx1"/>
                </a:solidFill>
              </a:rPr>
              <a:t>Hinrichs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66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32613-06BD-E01C-7E05-1345C830C2F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887" y="749300"/>
            <a:ext cx="6521450" cy="850900"/>
          </a:xfrm>
        </p:spPr>
        <p:txBody>
          <a:bodyPr>
            <a:normAutofit fontScale="90000"/>
          </a:bodyPr>
          <a:lstStyle/>
          <a:p>
            <a:r>
              <a:rPr lang="en-US" sz="4800" b="1" i="0" dirty="0">
                <a:solidFill>
                  <a:srgbClr val="1F2328"/>
                </a:solidFill>
                <a:effectLst/>
                <a:latin typeface="-apple-system"/>
              </a:rPr>
              <a:t>Bundesliga </a:t>
            </a:r>
            <a:r>
              <a:rPr lang="en-US" sz="4800" b="1" dirty="0">
                <a:solidFill>
                  <a:srgbClr val="1F2328"/>
                </a:solidFill>
                <a:latin typeface="-apple-system"/>
              </a:rPr>
              <a:t>Season 2024/25 Statistics</a:t>
            </a:r>
            <a:endParaRPr lang="en-US" sz="48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1D573E8-28FA-B879-E6CB-4C9E5DDEF764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l="38596" r="38596"/>
          <a:stretch>
            <a:fillRect/>
          </a:stretch>
        </p:blipFill>
        <p:spPr>
          <a:xfrm>
            <a:off x="7597775" y="1287246"/>
            <a:ext cx="3978275" cy="5488204"/>
          </a:xfrm>
          <a:prstGeom prst="round2DiagRect">
            <a:avLst>
              <a:gd name="adj1" fmla="val 5608"/>
              <a:gd name="adj2" fmla="val 31173"/>
            </a:avLst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D41ED3-96F7-4AF9-0C6F-9CBC6E988BF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0886" y="1992087"/>
            <a:ext cx="6453413" cy="4116614"/>
          </a:xfrm>
        </p:spPr>
        <p:txBody>
          <a:bodyPr/>
          <a:lstStyle/>
          <a:p>
            <a:pPr marL="0" indent="0">
              <a:buNone/>
            </a:pPr>
            <a:r>
              <a:rPr lang="en-US" sz="3000" b="1" i="0" dirty="0">
                <a:solidFill>
                  <a:srgbClr val="1F2328"/>
                </a:solidFill>
                <a:effectLst/>
                <a:latin typeface="-apple-system"/>
              </a:rPr>
              <a:t>APIs and Databases</a:t>
            </a:r>
            <a:r>
              <a:rPr lang="en-DE" sz="3000" b="1" i="0" dirty="0">
                <a:solidFill>
                  <a:srgbClr val="1F2328"/>
                </a:solidFill>
                <a:effectLst/>
                <a:latin typeface="-apple-system"/>
              </a:rPr>
              <a:t>:</a:t>
            </a:r>
            <a:endParaRPr lang="en-US" sz="2500" i="0" dirty="0">
              <a:solidFill>
                <a:srgbClr val="1F2328"/>
              </a:solidFill>
              <a:effectLst/>
              <a:latin typeface="-apple-system"/>
            </a:endParaRPr>
          </a:p>
          <a:p>
            <a:r>
              <a:rPr lang="en-US" sz="3000" dirty="0"/>
              <a:t>WhoScored.com</a:t>
            </a:r>
          </a:p>
          <a:p>
            <a:r>
              <a:rPr lang="en-US" sz="3000" dirty="0"/>
              <a:t>Footballdata.org</a:t>
            </a:r>
          </a:p>
          <a:p>
            <a:r>
              <a:rPr lang="en-US" sz="3000" dirty="0"/>
              <a:t>visualcrossing.com (Weather API)</a:t>
            </a:r>
          </a:p>
          <a:p>
            <a:r>
              <a:rPr lang="en-US" sz="3000" dirty="0"/>
              <a:t>API-FOOTBALL.com</a:t>
            </a:r>
          </a:p>
          <a:p>
            <a:r>
              <a:rPr lang="en-US" sz="3000" dirty="0"/>
              <a:t>Understat.com</a:t>
            </a:r>
          </a:p>
          <a:p>
            <a:r>
              <a:rPr lang="en-US" sz="3000" dirty="0"/>
              <a:t>ESPN.co.uk</a:t>
            </a:r>
          </a:p>
          <a:p>
            <a:r>
              <a:rPr lang="en-US" sz="3000" dirty="0"/>
              <a:t>Capology.com</a:t>
            </a:r>
          </a:p>
          <a:p>
            <a:pPr marL="0" indent="0" algn="l">
              <a:spcAft>
                <a:spcPts val="1200"/>
              </a:spcAft>
              <a:buNone/>
            </a:pPr>
            <a:endParaRPr lang="en-US" sz="3000" b="0" i="0" u="sng" dirty="0">
              <a:solidFill>
                <a:srgbClr val="0969DA"/>
              </a:solidFill>
              <a:effectLst/>
              <a:latin typeface="-apple-system"/>
            </a:endParaRPr>
          </a:p>
          <a:p>
            <a:pPr marL="0" indent="0" algn="l">
              <a:spcAft>
                <a:spcPts val="1200"/>
              </a:spcAft>
              <a:buNone/>
            </a:pPr>
            <a:endParaRPr lang="en-US" sz="30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0" indent="0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973457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05803-5F05-6896-F49A-385D2E32C332}"/>
              </a:ext>
            </a:extLst>
          </p:cNvPr>
          <p:cNvSpPr txBox="1"/>
          <p:nvPr/>
        </p:nvSpPr>
        <p:spPr>
          <a:xfrm>
            <a:off x="0" y="674914"/>
            <a:ext cx="1149531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4300" b="1" i="0" dirty="0">
                <a:solidFill>
                  <a:srgbClr val="1F2328"/>
                </a:solidFill>
                <a:effectLst/>
                <a:latin typeface="-apple-system"/>
              </a:rPr>
              <a:t>Research questions</a:t>
            </a:r>
          </a:p>
          <a:p>
            <a:pPr fontAlgn="base"/>
            <a:r>
              <a:rPr lang="en-US" sz="2500" b="1" dirty="0"/>
              <a:t>1. </a:t>
            </a:r>
            <a:r>
              <a:rPr lang="en-US" sz="2500" dirty="0"/>
              <a:t>How do weather conditions during a match influence the total number of goals scored? </a:t>
            </a:r>
          </a:p>
          <a:p>
            <a:pPr fontAlgn="base"/>
            <a:r>
              <a:rPr lang="en-US" sz="2500" b="1" dirty="0"/>
              <a:t>2. </a:t>
            </a:r>
            <a:r>
              <a:rPr lang="en-US" sz="2500" dirty="0"/>
              <a:t>How does the matchday affect the amount of goals? </a:t>
            </a:r>
          </a:p>
          <a:p>
            <a:pPr fontAlgn="base"/>
            <a:r>
              <a:rPr lang="en-US" sz="2500" b="1" dirty="0"/>
              <a:t>3. </a:t>
            </a:r>
            <a:r>
              <a:rPr lang="en-US" sz="2500" dirty="0"/>
              <a:t>How does the time between winning possession in your own half and the first shot correlate with the probability of scoring? </a:t>
            </a:r>
          </a:p>
          <a:p>
            <a:pPr fontAlgn="base"/>
            <a:r>
              <a:rPr lang="en-US" sz="2500" b="1" dirty="0"/>
              <a:t>4. </a:t>
            </a:r>
            <a:r>
              <a:rPr lang="en-US" sz="2500" dirty="0"/>
              <a:t>Which players perform particularly well in home matches and which in away matches (as measured by who scored overall ratings) ? </a:t>
            </a:r>
          </a:p>
          <a:p>
            <a:pPr fontAlgn="base"/>
            <a:r>
              <a:rPr lang="en-US" sz="2500" b="1" dirty="0"/>
              <a:t>5. </a:t>
            </a:r>
            <a:r>
              <a:rPr lang="en-US" sz="2500" dirty="0"/>
              <a:t>What is the relationship between payroll spending and league points? </a:t>
            </a:r>
          </a:p>
          <a:p>
            <a:pPr fontAlgn="base"/>
            <a:r>
              <a:rPr lang="en-US" sz="2500" b="1" dirty="0"/>
              <a:t>6. </a:t>
            </a:r>
            <a:r>
              <a:rPr lang="en-US" sz="2500" dirty="0"/>
              <a:t>What is the relationship between the capacity of the arena and the number of cards issued? </a:t>
            </a:r>
          </a:p>
          <a:p>
            <a:pPr fontAlgn="base"/>
            <a:r>
              <a:rPr lang="en-US" sz="2500" b="1" dirty="0"/>
              <a:t>7. </a:t>
            </a:r>
            <a:r>
              <a:rPr lang="en-US" sz="2500" dirty="0"/>
              <a:t>How do the number and average timing of substitutions affect the number of shots on goal in the second half? </a:t>
            </a:r>
          </a:p>
          <a:p>
            <a:pPr fontAlgn="base"/>
            <a:r>
              <a:rPr lang="en-US" sz="2500" b="1" dirty="0"/>
              <a:t>8. </a:t>
            </a:r>
            <a:r>
              <a:rPr lang="en-US" sz="2500" dirty="0"/>
              <a:t>How does the average player age affect a team's efficiency (goals per shot)? </a:t>
            </a:r>
          </a:p>
        </p:txBody>
      </p:sp>
    </p:spTree>
    <p:extLst>
      <p:ext uri="{BB962C8B-B14F-4D97-AF65-F5344CB8AC3E}">
        <p14:creationId xmlns:p14="http://schemas.microsoft.com/office/powerpoint/2010/main" val="3721733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87D9E-8DAC-10F5-6618-11AA5AF44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0B5D-E86A-1B72-01A4-CC35557E13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749300"/>
            <a:ext cx="6521450" cy="717550"/>
          </a:xfrm>
        </p:spPr>
        <p:txBody>
          <a:bodyPr>
            <a:normAutofit fontScale="90000"/>
          </a:bodyPr>
          <a:lstStyle/>
          <a:p>
            <a:r>
              <a:rPr lang="en-US" sz="4800" b="1" i="0" dirty="0">
                <a:solidFill>
                  <a:srgbClr val="1F2328"/>
                </a:solidFill>
                <a:effectLst/>
                <a:latin typeface="-apple-system"/>
              </a:rPr>
              <a:t>Challenges</a:t>
            </a:r>
            <a:endParaRPr lang="en-US" sz="4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18DA3-13FF-CAF6-B255-6CD63EF02FF7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-57150" y="2679699"/>
            <a:ext cx="6521450" cy="3429001"/>
          </a:xfrm>
        </p:spPr>
        <p:txBody>
          <a:bodyPr/>
          <a:lstStyle/>
          <a:p>
            <a:pPr marL="0" indent="0" algn="l">
              <a:spcAft>
                <a:spcPts val="1200"/>
              </a:spcAft>
              <a:buNone/>
            </a:pPr>
            <a:endParaRPr lang="en-US" sz="3000" b="0" i="0" u="sng" dirty="0">
              <a:solidFill>
                <a:srgbClr val="0969DA"/>
              </a:solidFill>
              <a:effectLst/>
              <a:latin typeface="-apple-system"/>
            </a:endParaRPr>
          </a:p>
          <a:p>
            <a:pPr marL="0" indent="0" algn="l">
              <a:spcAft>
                <a:spcPts val="1200"/>
              </a:spcAft>
              <a:buNone/>
            </a:pPr>
            <a:endParaRPr lang="en-US" sz="30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0" indent="0">
              <a:buNone/>
            </a:pPr>
            <a:endParaRPr lang="en-US" sz="3000" dirty="0"/>
          </a:p>
        </p:txBody>
      </p:sp>
      <p:pic>
        <p:nvPicPr>
          <p:cNvPr id="1026" name="Picture 2" descr="Challenge Images – Browse 6,110,430 Stock Photos, Vectors, and Video |  Adobe Stock">
            <a:extLst>
              <a:ext uri="{FF2B5EF4-FFF2-40B4-BE49-F238E27FC236}">
                <a16:creationId xmlns:a16="http://schemas.microsoft.com/office/drawing/2014/main" id="{AE006BDF-3C91-74C1-2156-B4D6A25B9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657" y="1863573"/>
            <a:ext cx="7554686" cy="453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471900"/>
      </p:ext>
    </p:extLst>
  </p:cSld>
  <p:clrMapOvr>
    <a:masterClrMapping/>
  </p:clrMapOvr>
</p:sld>
</file>

<file path=ppt/theme/theme1.xml><?xml version="1.0" encoding="utf-8"?>
<a:theme xmlns:a="http://schemas.openxmlformats.org/drawingml/2006/main" name="Hauptfolie">
  <a:themeElements>
    <a:clrScheme name="Стандартная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infache 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inimale 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vorlage-jura-16z9-de</Template>
  <TotalTime>0</TotalTime>
  <Words>203</Words>
  <Application>Microsoft Office PowerPoint</Application>
  <PresentationFormat>Breitbild</PresentationFormat>
  <Paragraphs>29</Paragraphs>
  <Slides>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4</vt:i4>
      </vt:variant>
    </vt:vector>
  </HeadingPairs>
  <TitlesOfParts>
    <vt:vector size="11" baseType="lpstr">
      <vt:lpstr>-apple-system</vt:lpstr>
      <vt:lpstr>Aptos</vt:lpstr>
      <vt:lpstr>Arial</vt:lpstr>
      <vt:lpstr>Calibri</vt:lpstr>
      <vt:lpstr>Hauptfolie</vt:lpstr>
      <vt:lpstr>Einfache Folie</vt:lpstr>
      <vt:lpstr>Minimale Folie</vt:lpstr>
      <vt:lpstr>Data science Projekt</vt:lpstr>
      <vt:lpstr>Bundesliga Season 2024/25 Statistics</vt:lpstr>
      <vt:lpstr>PowerPoint-Präsentation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 Lam Tang</dc:creator>
  <cp:lastModifiedBy>Florian Ivan Hinrichsen</cp:lastModifiedBy>
  <cp:revision>7</cp:revision>
  <dcterms:created xsi:type="dcterms:W3CDTF">2026-02-26T09:55:11Z</dcterms:created>
  <dcterms:modified xsi:type="dcterms:W3CDTF">2026-03-19T19:37:12Z</dcterms:modified>
</cp:coreProperties>
</file>